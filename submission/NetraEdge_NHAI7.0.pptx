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0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0"/>
            <a:ext cx="91440" cy="914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0"/>
            <a:ext cx="91440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0" y="-91440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0" y="-548640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772400" y="-182879"/>
            <a:ext cx="5486400" cy="54864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Inter"/>
              </a:rPr>
              <a:t>NHAI INNOVATION HACKATHON 7.0  ·  DATALAKE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1737360"/>
            <a:ext cx="91440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Inter"/>
              </a:rPr>
              <a:t>NetraEdge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017520"/>
            <a:ext cx="4114800" cy="64008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20040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1F5F9"/>
                </a:solidFill>
                <a:latin typeface="Inter"/>
              </a:rPr>
              <a:t>Offline facial recognition + 10-layer liveness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03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1">
                <a:solidFill>
                  <a:srgbClr val="94A3B8"/>
                </a:solidFill>
                <a:latin typeface="Inter"/>
              </a:rPr>
              <a:t>for the highway field. 100% on-device. 14.67 MB. &lt;1 second.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526280"/>
            <a:ext cx="1645920" cy="41148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4526280"/>
            <a:ext cx="164592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10 LAYERS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4526280"/>
            <a:ext cx="2011680" cy="411480"/>
          </a:xfrm>
          <a:prstGeom prst="roundRect">
            <a:avLst>
              <a:gd name="adj" fmla="val 50000"/>
            </a:avLst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23160" y="4526280"/>
            <a:ext cx="20116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14.67 MB TOTAL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0" y="4526280"/>
            <a:ext cx="1828800" cy="41148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526280"/>
            <a:ext cx="182880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27–33 MS / FRAME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37960" y="4526280"/>
            <a:ext cx="1920240" cy="411480"/>
          </a:xfrm>
          <a:prstGeom prst="roundRect">
            <a:avLst>
              <a:gd name="adj" fmla="val 5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526280"/>
            <a:ext cx="192024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99.48% LFW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95360" y="4526280"/>
            <a:ext cx="2194560" cy="411480"/>
          </a:xfrm>
          <a:prstGeom prst="roundRect">
            <a:avLst>
              <a:gd name="adj" fmla="val 5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0" y="4526280"/>
            <a:ext cx="219456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DPDP ACT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C7D2FE"/>
                </a:solidFill>
                <a:latin typeface="Inter"/>
              </a:rPr>
              <a:t>Submission 05 June 2026  ·  Team NetraEdge  ·  Built for the field, designed for 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92240"/>
            <a:ext cx="13258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01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SLIDE 02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7432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Inter"/>
              </a:rPr>
              <a:t>NETRAEDGE · NHAI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Inter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Highway sites can't verify identity today — and kiosks don't scale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2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NetraEdge v1.0.0  ·  NHAI Innovation Hackathon 7.0  ·  Datalake 3.0  ·  Apache-2.0 + 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74519"/>
            <a:ext cx="3657600" cy="228600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57399"/>
            <a:ext cx="36576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0" b="1" i="0">
                <a:solidFill>
                  <a:srgbClr val="FB7185"/>
                </a:solidFill>
                <a:latin typeface="Inter"/>
              </a:rPr>
              <a:t>70%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703319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Inter"/>
              </a:rPr>
              <a:t>of 6,000+ NHAI sites are in</a:t>
            </a:r>
          </a:p>
          <a:p>
            <a:pPr algn="ctr"/>
            <a:r>
              <a:rPr sz="1100" b="0" i="0">
                <a:solidFill>
                  <a:srgbClr val="94A3B8"/>
                </a:solidFill>
                <a:latin typeface="Inter"/>
              </a:rPr>
              <a:t>zero-network zones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4297680"/>
            <a:ext cx="1755648" cy="178308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4480560"/>
            <a:ext cx="175564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FBBF24"/>
                </a:solidFill>
                <a:latin typeface="Inter"/>
              </a:rPr>
              <a:t>₹4-6L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5623560"/>
            <a:ext cx="1755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Inter"/>
              </a:rPr>
              <a:t>kiosk CAPEX</a:t>
            </a:r>
          </a:p>
          <a:p>
            <a:pPr algn="ctr"/>
            <a:r>
              <a:rPr sz="1100" b="0" i="0">
                <a:solidFill>
                  <a:srgbClr val="94A3B8"/>
                </a:solidFill>
                <a:latin typeface="Inter"/>
              </a:rPr>
              <a:t>per site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67712" y="4297680"/>
            <a:ext cx="1755648" cy="178308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67712" y="4480560"/>
            <a:ext cx="1755648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800" b="1" i="0">
                <a:solidFill>
                  <a:srgbClr val="8B5CF6"/>
                </a:solidFill>
                <a:latin typeface="Inter"/>
              </a:rPr>
              <a:t>4-6 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67712" y="5623560"/>
            <a:ext cx="1755648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Inter"/>
              </a:rPr>
              <a:t>admin overhead</a:t>
            </a:r>
          </a:p>
          <a:p>
            <a:pPr algn="ctr"/>
            <a:r>
              <a:rPr sz="1100" b="0" i="0">
                <a:solidFill>
                  <a:srgbClr val="94A3B8"/>
                </a:solidFill>
                <a:latin typeface="Inter"/>
              </a:rPr>
              <a:t>per site / day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920240"/>
            <a:ext cx="749807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BBF24"/>
                </a:solidFill>
                <a:latin typeface="Inter"/>
              </a:rPr>
              <a:t>MANUAL GATE REGISTERS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228600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•  Forgeable, unauditable paper registers</a:t>
            </a:r>
          </a:p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•  No biometric binding to a person</a:t>
            </a:r>
          </a:p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•  4-6 hours of admin overhead per site per day</a:t>
            </a:r>
          </a:p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•  Collusion and buddy-punching go unchallenged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3566160"/>
            <a:ext cx="7498079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B7185"/>
                </a:solidFill>
                <a:latin typeface="Inter"/>
              </a:rPr>
              <a:t>DEDICATED BIOMETRIC KIOSKS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97680" y="3931920"/>
            <a:ext cx="7498079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•  ₹4-6 lakh per unit upfront (CAPEX)</a:t>
            </a:r>
          </a:p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•  +₹50 K / year maintenance</a:t>
            </a:r>
          </a:p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•  Requires continuous power + network</a:t>
            </a:r>
          </a:p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•  Fixed installation — cannot redeploy to ad-hoc sites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5303520"/>
            <a:ext cx="7498079" cy="868680"/>
          </a:xfrm>
          <a:prstGeom prst="roundRect">
            <a:avLst>
              <a:gd name="adj" fmla="val 8000"/>
            </a:avLst>
          </a:prstGeom>
          <a:solidFill>
            <a:srgbClr val="1E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5413248"/>
            <a:ext cx="713231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Inter"/>
              </a:rPr>
              <a:t>THE GAP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5715000"/>
            <a:ext cx="7132319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F1F5F9"/>
                </a:solidFill>
                <a:latin typeface="Inter"/>
              </a:rPr>
              <a:t>Reliable, mobile, zero-network face verification at every site.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SLIDE 03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7432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Inter"/>
              </a:rPr>
              <a:t>NETRAEDGE · NHAI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Inter"/>
              </a:rPr>
              <a:t>The solution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NetraEdge: turn every supervisor's existing phone into a biometric terminal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2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NetraEdge v1.0.0  ·  NHAI Innovation Hackathon 7.0  ·  Datalake 3.0  ·  Apache-2.0 + 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28800"/>
            <a:ext cx="3703320" cy="1783080"/>
          </a:xfrm>
          <a:prstGeom prst="roundRect">
            <a:avLst>
              <a:gd name="adj" fmla="val 5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828800"/>
            <a:ext cx="370332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" y="1975104"/>
            <a:ext cx="3374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8B5CF6"/>
                </a:solidFill>
                <a:latin typeface="Inter"/>
              </a:rPr>
              <a:t>100% OFFLINE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" y="2286000"/>
            <a:ext cx="33741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Zero network round-trips</a:t>
            </a:r>
          </a:p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per frame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51960" y="1828800"/>
            <a:ext cx="3703320" cy="1783080"/>
          </a:xfrm>
          <a:prstGeom prst="roundRect">
            <a:avLst>
              <a:gd name="adj" fmla="val 5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51960" y="1828800"/>
            <a:ext cx="3703320" cy="54864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16552" y="1975104"/>
            <a:ext cx="3374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22D3EE"/>
                </a:solidFill>
                <a:latin typeface="Inter"/>
              </a:rPr>
              <a:t>99.48% LFW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16552" y="2286000"/>
            <a:ext cx="33741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MobileFaceNet 128-d</a:t>
            </a:r>
          </a:p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recognition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38160" y="1828800"/>
            <a:ext cx="3703320" cy="1783080"/>
          </a:xfrm>
          <a:prstGeom prst="roundRect">
            <a:avLst>
              <a:gd name="adj" fmla="val 5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38160" y="1828800"/>
            <a:ext cx="370332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975104"/>
            <a:ext cx="3374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BBF24"/>
                </a:solidFill>
                <a:latin typeface="Inter"/>
              </a:rPr>
              <a:t>10-LAYER LIVENESS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2752" y="2286000"/>
            <a:ext cx="33741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All algorithmic. No model</a:t>
            </a:r>
          </a:p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at the spoof decision.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794760"/>
            <a:ext cx="3703320" cy="1783080"/>
          </a:xfrm>
          <a:prstGeom prst="roundRect">
            <a:avLst>
              <a:gd name="adj" fmla="val 5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794760"/>
            <a:ext cx="37033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" y="3941064"/>
            <a:ext cx="3374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34D399"/>
                </a:solidFill>
                <a:latin typeface="Inter"/>
              </a:rPr>
              <a:t>DPDP ACT 2023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4251960"/>
            <a:ext cx="33741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Consent, audit, erasure.</a:t>
            </a:r>
          </a:p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Fully compliant.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251960" y="3794760"/>
            <a:ext cx="3703320" cy="1783080"/>
          </a:xfrm>
          <a:prstGeom prst="roundRect">
            <a:avLst>
              <a:gd name="adj" fmla="val 5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251960" y="3794760"/>
            <a:ext cx="3703320" cy="54864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16552" y="3941064"/>
            <a:ext cx="3374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B7185"/>
                </a:solidFill>
                <a:latin typeface="Inter"/>
              </a:rPr>
              <a:t>AUTO-SYNC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6552" y="4251960"/>
            <a:ext cx="33741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Deferred HTTPS push to</a:t>
            </a:r>
          </a:p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Datalake 3.0 when online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38160" y="3794760"/>
            <a:ext cx="3703320" cy="1783080"/>
          </a:xfrm>
          <a:prstGeom prst="roundRect">
            <a:avLst>
              <a:gd name="adj" fmla="val 5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38160" y="3794760"/>
            <a:ext cx="3703320" cy="54864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3941064"/>
            <a:ext cx="337413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6D28D9"/>
                </a:solidFill>
                <a:latin typeface="Inter"/>
              </a:rPr>
              <a:t>₹0 CAPEX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4251960"/>
            <a:ext cx="3374136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BYOD. No kiosk hardware.</a:t>
            </a:r>
          </a:p>
          <a:p>
            <a:pPr algn="l"/>
            <a:r>
              <a:rPr sz="1300" b="0" i="0">
                <a:solidFill>
                  <a:srgbClr val="C7D2FE"/>
                </a:solidFill>
                <a:latin typeface="Inter"/>
              </a:rPr>
              <a:t>Just the phone in pocket.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5760720"/>
            <a:ext cx="11430000" cy="6858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65760" y="5760720"/>
            <a:ext cx="11430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Inter"/>
              </a:rPr>
              <a:t>5–10× cheaper than kiosks  ·  instantly deployable  ·  works where the network doesn't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SLIDE 04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7432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Inter"/>
              </a:rPr>
              <a:t>NETRAEDGE · NHAI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Inter"/>
              </a:rPr>
              <a:t>Architecture at a glance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Offline-first. AES-256-GCM at rest. Differential-privacy on sync. TLS 1.3 in transit.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2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NetraEdge v1.0.0  ·  NHAI Innovation Hackathon 7.0  ·  Datalake 3.0  ·  Apache-2.0 + 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627632"/>
            <a:ext cx="11430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Inter"/>
              </a:rPr>
              <a:t>MOBILE DEVICE  ·  on-device inference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920240"/>
            <a:ext cx="2212848" cy="109728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920240"/>
            <a:ext cx="22128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CameraX</a:t>
            </a:r>
          </a:p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front camera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70048" y="1920240"/>
            <a:ext cx="2212848" cy="109728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0048" y="1920240"/>
            <a:ext cx="22128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MediaPipe</a:t>
            </a:r>
          </a:p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468 landmarks</a:t>
            </a:r>
          </a:p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+ 52 blendshapes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974336" y="1920240"/>
            <a:ext cx="2212848" cy="109728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74336" y="1920240"/>
            <a:ext cx="22128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MobileFaceNet</a:t>
            </a:r>
          </a:p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128-d embedding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78624" y="1920240"/>
            <a:ext cx="2212848" cy="109728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78624" y="1920240"/>
            <a:ext cx="22128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10-Layer Liveness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algorithmic fusion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82912" y="1920240"/>
            <a:ext cx="2212848" cy="1097280"/>
          </a:xfrm>
          <a:prstGeom prst="roundRect">
            <a:avLst>
              <a:gd name="adj" fmla="val 1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1920240"/>
            <a:ext cx="2212848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A0E1F"/>
                </a:solidFill>
                <a:latin typeface="Inter"/>
              </a:rPr>
              <a:t>Decision</a:t>
            </a:r>
          </a:p>
          <a:p>
            <a:pPr algn="ctr"/>
            <a:r>
              <a:rPr sz="1000" b="1" i="0">
                <a:solidFill>
                  <a:srgbClr val="0A0E1F"/>
                </a:solidFill>
                <a:latin typeface="Inter"/>
              </a:rPr>
              <a:t>VERIFIED / SPOOF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2907792"/>
            <a:ext cx="11430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06B6D4"/>
                </a:solidFill>
                <a:latin typeface="Inter"/>
              </a:rPr>
              <a:t>ENCRYPTED LOCAL CACHE  ·  sync queue + DP noise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3200400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200400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SQLite</a:t>
            </a:r>
          </a:p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encrypted cache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246120" y="3200400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46120" y="3200400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SyncQueue</a:t>
            </a:r>
          </a:p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retry + backoff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0" y="3200400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200400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Laplace DP</a:t>
            </a:r>
          </a:p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ε=1.0, sens=2.0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3200400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6840" y="3200400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A0E1F"/>
                </a:solidFill>
                <a:latin typeface="Inter"/>
              </a:rPr>
              <a:t>HMAC-SHA256</a:t>
            </a:r>
          </a:p>
          <a:p>
            <a:pPr algn="ctr"/>
            <a:r>
              <a:rPr sz="1000" b="1" i="0">
                <a:solidFill>
                  <a:srgbClr val="0A0E1F"/>
                </a:solidFill>
                <a:latin typeface="Inter"/>
              </a:rPr>
              <a:t>signed audit log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187952"/>
            <a:ext cx="114300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Inter"/>
              </a:rPr>
              <a:t>AWS ap-south-1  ·  Datalake 3.0  ·  apigw + lambda + dynamodb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5760" y="4480560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480560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API Gateway</a:t>
            </a:r>
          </a:p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HTTPS · TLS 1.3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6120" y="4480560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46120" y="4480560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AWS Lambda</a:t>
            </a:r>
          </a:p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embedding receiver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26480" y="4480560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26480" y="4480560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DynamoDB</a:t>
            </a:r>
          </a:p>
          <a:p>
            <a:pPr algn="ctr"/>
            <a:r>
              <a:rPr sz="1000" b="1" i="0">
                <a:solidFill>
                  <a:srgbClr val="F1F5F9"/>
                </a:solidFill>
                <a:latin typeface="Inter"/>
              </a:rPr>
              <a:t>KMS encrypted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840" y="4480560"/>
            <a:ext cx="2788920" cy="1097280"/>
          </a:xfrm>
          <a:prstGeom prst="roundRect">
            <a:avLst>
              <a:gd name="adj" fmla="val 1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06840" y="4480560"/>
            <a:ext cx="278892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CloudWatch</a:t>
            </a:r>
          </a:p>
          <a:p>
            <a:pPr algn="ctr"/>
            <a:r>
              <a:rPr sz="1000" b="1" i="0">
                <a:solidFill>
                  <a:srgbClr val="FFFFFF"/>
                </a:solidFill>
                <a:latin typeface="Inter"/>
              </a:rPr>
              <a:t>7-yr audit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760720"/>
            <a:ext cx="11430000" cy="640080"/>
          </a:xfrm>
          <a:prstGeom prst="roundRect">
            <a:avLst>
              <a:gd name="adj" fmla="val 8000"/>
            </a:avLst>
          </a:prstGeom>
          <a:solidFill>
            <a:srgbClr val="1E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5760720"/>
            <a:ext cx="110642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1F5F9"/>
                </a:solidFill>
                <a:latin typeface="Inter"/>
              </a:rPr>
              <a:t>▶  No face image ever leaves the device.  Only 512-byte embeddings sync, with Laplace differential-privacy noise applied.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SLIDE 05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7432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Inter"/>
              </a:rPr>
              <a:t>NETRAEDGE · NHAI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Inter"/>
              </a:rPr>
              <a:t>10-layer liveness fusion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All 10 layers are algorithmic — no model is invoked at the spoof decision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2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NetraEdge v1.0.0  ·  NHAI Innovation Hackathon 7.0  ·  Datalake 3.0  ·  Apache-2.0 + 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28800"/>
            <a:ext cx="11430000" cy="502920"/>
          </a:xfrm>
          <a:prstGeom prst="roundRect">
            <a:avLst>
              <a:gd name="adj" fmla="val 8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28800"/>
            <a:ext cx="110642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Inter"/>
              </a:rPr>
              <a:t>KEY FACT  ·  L1-L10 = LBP + HSV + FFT + Laplacian + optical flow + sensor fusion + blendshapes + POS rPPG.  MiniFASNet CNN is loaded but bypassed.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2468880"/>
            <a:ext cx="566928" cy="5669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468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78992" y="2468880"/>
            <a:ext cx="4956048" cy="566928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16152" y="2505456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Inter"/>
              </a:rPr>
              <a:t>Texture  ·  LBP histogram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276148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catches: print surface vs skin</a:t>
            </a:r>
          </a:p>
        </p:txBody>
      </p:sp>
      <p:sp>
        <p:nvSpPr>
          <p:cNvPr id="18" name="Oval 17"/>
          <p:cNvSpPr/>
          <p:nvPr/>
        </p:nvSpPr>
        <p:spPr>
          <a:xfrm>
            <a:off x="6126480" y="2468880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0" y="246888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39712" y="2468880"/>
            <a:ext cx="4956048" cy="566928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76872" y="2505456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Inter"/>
              </a:rPr>
              <a:t>Color  ·  HSV skew + luma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76872" y="276148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catches: printed photo</a:t>
            </a:r>
          </a:p>
        </p:txBody>
      </p:sp>
      <p:sp>
        <p:nvSpPr>
          <p:cNvPr id="23" name="Oval 22"/>
          <p:cNvSpPr/>
          <p:nvPr/>
        </p:nvSpPr>
        <p:spPr>
          <a:xfrm>
            <a:off x="365760" y="3108960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108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78992" y="3108960"/>
            <a:ext cx="4956048" cy="566928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16152" y="3145536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Inter"/>
              </a:rPr>
              <a:t>Moiré  ·  radix-2 FFT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40156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catches: LCD / AMOLED screen</a:t>
            </a:r>
          </a:p>
        </p:txBody>
      </p:sp>
      <p:sp>
        <p:nvSpPr>
          <p:cNvPr id="28" name="Oval 27"/>
          <p:cNvSpPr/>
          <p:nvPr/>
        </p:nvSpPr>
        <p:spPr>
          <a:xfrm>
            <a:off x="6126480" y="3108960"/>
            <a:ext cx="566928" cy="5669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10896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39712" y="3108960"/>
            <a:ext cx="4956048" cy="566928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76872" y="3145536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Inter"/>
              </a:rPr>
              <a:t>Specular  ·  Laplacian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340156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catches: plastic mask / mannequin</a:t>
            </a:r>
          </a:p>
        </p:txBody>
      </p:sp>
      <p:sp>
        <p:nvSpPr>
          <p:cNvPr id="33" name="Oval 32"/>
          <p:cNvSpPr/>
          <p:nvPr/>
        </p:nvSpPr>
        <p:spPr>
          <a:xfrm>
            <a:off x="365760" y="3749040"/>
            <a:ext cx="566928" cy="56692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3749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78992" y="3749040"/>
            <a:ext cx="4956048" cy="566928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216152" y="3785616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Inter"/>
              </a:rPr>
              <a:t>Light  ·  cheek delta ≤ 0.15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404164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catches: mask asymmetry</a:t>
            </a:r>
          </a:p>
        </p:txBody>
      </p:sp>
      <p:sp>
        <p:nvSpPr>
          <p:cNvPr id="38" name="Oval 37"/>
          <p:cNvSpPr/>
          <p:nvPr/>
        </p:nvSpPr>
        <p:spPr>
          <a:xfrm>
            <a:off x="6126480" y="3749040"/>
            <a:ext cx="566928" cy="566928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26480" y="37490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39712" y="3749040"/>
            <a:ext cx="4956048" cy="566928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76872" y="3785616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8B5CF6"/>
                </a:solidFill>
                <a:latin typeface="Inter"/>
              </a:rPr>
              <a:t>Temporal  ·  optical 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6872" y="404164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catches: static single-frame</a:t>
            </a:r>
          </a:p>
        </p:txBody>
      </p:sp>
      <p:sp>
        <p:nvSpPr>
          <p:cNvPr id="43" name="Oval 42"/>
          <p:cNvSpPr/>
          <p:nvPr/>
        </p:nvSpPr>
        <p:spPr>
          <a:xfrm>
            <a:off x="365760" y="4389120"/>
            <a:ext cx="566928" cy="56692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4389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L7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78992" y="4389120"/>
            <a:ext cx="4956048" cy="566928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216152" y="4425696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Inter"/>
              </a:rPr>
              <a:t>Banding  ·  gradient histogram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16152" y="468172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catches: compressed video</a:t>
            </a:r>
          </a:p>
        </p:txBody>
      </p:sp>
      <p:sp>
        <p:nvSpPr>
          <p:cNvPr id="48" name="Oval 47"/>
          <p:cNvSpPr/>
          <p:nvPr/>
        </p:nvSpPr>
        <p:spPr>
          <a:xfrm>
            <a:off x="6126480" y="4389120"/>
            <a:ext cx="566928" cy="566928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126480" y="4389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L8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39712" y="4389120"/>
            <a:ext cx="4956048" cy="566928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76872" y="4425696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Inter"/>
              </a:rPr>
              <a:t>Sensor fusion  ·  gyro + accel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76872" y="468172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catches: device stillness</a:t>
            </a:r>
          </a:p>
        </p:txBody>
      </p:sp>
      <p:sp>
        <p:nvSpPr>
          <p:cNvPr id="53" name="Oval 52"/>
          <p:cNvSpPr/>
          <p:nvPr/>
        </p:nvSpPr>
        <p:spPr>
          <a:xfrm>
            <a:off x="365760" y="5029200"/>
            <a:ext cx="566928" cy="566928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65760" y="5029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L9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078992" y="5029200"/>
            <a:ext cx="4956048" cy="566928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216152" y="5065776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34D399"/>
                </a:solidFill>
                <a:latin typeface="Inter"/>
              </a:rPr>
              <a:t>Active  ·  BLINK / SMILE / HEAD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216152" y="532180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catches: willing colluder</a:t>
            </a:r>
          </a:p>
        </p:txBody>
      </p:sp>
      <p:sp>
        <p:nvSpPr>
          <p:cNvPr id="58" name="Oval 57"/>
          <p:cNvSpPr/>
          <p:nvPr/>
        </p:nvSpPr>
        <p:spPr>
          <a:xfrm>
            <a:off x="6126480" y="5029200"/>
            <a:ext cx="566928" cy="566928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126480" y="50292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Inter"/>
              </a:rPr>
              <a:t>L10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39712" y="5029200"/>
            <a:ext cx="4956048" cy="566928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976872" y="5065776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B7185"/>
                </a:solidFill>
                <a:latin typeface="Inter"/>
              </a:rPr>
              <a:t>rPPG  ·  POS algorithm, 8 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976872" y="5321808"/>
            <a:ext cx="46817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catches: no-pulse surface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65760" y="5943600"/>
            <a:ext cx="11430000" cy="502920"/>
          </a:xfrm>
          <a:prstGeom prst="roundRect">
            <a:avLst>
              <a:gd name="adj" fmla="val 8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65760" y="5943600"/>
            <a:ext cx="11430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0A0E1F"/>
                </a:solidFill>
                <a:latin typeface="Inter"/>
              </a:rPr>
              <a:t>12 / 12  spoof vectors rejected in real-device trials  (photo · glossy photo · LCD replay · AMOLED replay · 3D mask · video on laptop · deepfake · paper mask · static loop · willing colluder · 2D well-lit mask · CG model)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SLIDE 06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7432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Inter"/>
              </a:rPr>
              <a:t>NETRAEDGE · NHAI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Inter"/>
              </a:rPr>
              <a:t>State-aware fusion (the secret sauce)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3-second grace period + EMA smoothing + direct vetoes. No false SPOOF on motion-blurred first frames.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2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NetraEdge v1.0.0  ·  NHAI Innovation Hackathon 7.0  ·  Datalake 3.0  ·  Apache-2.0 + 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86000"/>
            <a:ext cx="2011680" cy="1280160"/>
          </a:xfrm>
          <a:prstGeom prst="roundRect">
            <a:avLst>
              <a:gd name="adj" fmla="val 2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450592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IDLE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8036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no face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108960" y="2286000"/>
            <a:ext cx="2011680" cy="1280160"/>
          </a:xfrm>
          <a:prstGeom prst="roundRect">
            <a:avLst>
              <a:gd name="adj" fmla="val 2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08960" y="2450592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VERIFYING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288036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3s grace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+ EMA + vetoes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60720" y="2286000"/>
            <a:ext cx="2011680" cy="1280160"/>
          </a:xfrm>
          <a:prstGeom prst="roundRect">
            <a:avLst>
              <a:gd name="adj" fmla="val 2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60720" y="2450592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VERIFIED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0" y="288036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match ≥ 0.62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+ liveness OK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0" y="2286000"/>
            <a:ext cx="2011680" cy="1280160"/>
          </a:xfrm>
          <a:prstGeom prst="roundRect">
            <a:avLst>
              <a:gd name="adj" fmla="val 20000"/>
            </a:avLst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2450592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SPOOF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88036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any veto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or EMA &lt; 0.25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60720" y="4114800"/>
            <a:ext cx="2011680" cy="1280160"/>
          </a:xfrm>
          <a:prstGeom prst="roundRect">
            <a:avLst>
              <a:gd name="adj" fmla="val 20000"/>
            </a:avLst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4279392"/>
            <a:ext cx="20116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Inter"/>
              </a:rPr>
              <a:t>NOT_RECOGNIZED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4709160"/>
            <a:ext cx="20116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no match</a:t>
            </a:r>
          </a:p>
          <a:p>
            <a:pPr algn="ctr"/>
            <a:r>
              <a:rPr sz="1000" b="0" i="0">
                <a:solidFill>
                  <a:srgbClr val="FFFFFF"/>
                </a:solidFill>
                <a:latin typeface="Inter"/>
              </a:rPr>
              <a:t>in DB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468880" y="2926080"/>
            <a:ext cx="640080" cy="0"/>
          </a:xfrm>
          <a:prstGeom prst="line">
            <a:avLst/>
          </a:prstGeom>
          <a:ln w="25400">
            <a:solidFill>
              <a:srgbClr val="8B5CF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120640" y="2926080"/>
            <a:ext cx="640080" cy="0"/>
          </a:xfrm>
          <a:prstGeom prst="line">
            <a:avLst/>
          </a:prstGeom>
          <a:ln w="25400">
            <a:solidFill>
              <a:srgbClr val="8B5CF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120640" y="3200400"/>
            <a:ext cx="3291840" cy="0"/>
          </a:xfrm>
          <a:prstGeom prst="line">
            <a:avLst/>
          </a:prstGeom>
          <a:ln w="25400">
            <a:solidFill>
              <a:srgbClr val="FB7185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766560" y="3566160"/>
            <a:ext cx="0" cy="548640"/>
          </a:xfrm>
          <a:prstGeom prst="line">
            <a:avLst/>
          </a:prstGeom>
          <a:ln w="25400">
            <a:solidFill>
              <a:srgbClr val="FBBF24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2468880" y="2606040"/>
            <a:ext cx="3291840" cy="0"/>
          </a:xfrm>
          <a:prstGeom prst="line">
            <a:avLst/>
          </a:prstGeom>
          <a:ln w="12700">
            <a:solidFill>
              <a:srgbClr val="94A3B8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365760" y="5577840"/>
          <a:ext cx="114300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00400"/>
                <a:gridCol w="548640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State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Veto policy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EMA policy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IDLE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livenessEma &lt; 0.20  →  SPOOF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VERIFYING (first 3 s)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none (grace period)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no EMA check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VERIFYING (after 3 s)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direct vetoes only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livenessEma &lt; 0.25  →  SPOOF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SPOOF / VERIFIED / …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—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terminal; resets on next click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SLIDE 07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7432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Inter"/>
              </a:rPr>
              <a:t>NETRAEDGE · NHAI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Inter"/>
              </a:rPr>
              <a:t>Offline liveness — active challenges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4 randomised challenges, 2 per session. All from MediaPipe blendshapes — no extra model.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2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NetraEdge v1.0.0  ·  NHAI Innovation Hackathon 7.0  ·  Datalake 3.0  ·  Apache-2.0 + 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1920240"/>
            <a:ext cx="2697480" cy="347472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1920240"/>
            <a:ext cx="2697480" cy="118872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1920240"/>
            <a:ext cx="2697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Inter"/>
              </a:rPr>
              <a:t>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200400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8B5CF6"/>
                </a:solidFill>
                <a:latin typeface="Inter"/>
              </a:rPr>
              <a:t>BLINK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74904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Inter"/>
              </a:rPr>
              <a:t>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97764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JetBrains Mono"/>
              </a:rPr>
              <a:t>eyeBlinkLeft + eyeBlinkRight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34340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Inter"/>
              </a:rPr>
              <a:t>THRESHOLD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8B5CF6"/>
                </a:solidFill>
                <a:latin typeface="JetBrains Mono"/>
              </a:rPr>
              <a:t>0.15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3776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typical: 0.5–1.5 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1920240"/>
            <a:ext cx="2697480" cy="347472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1920240"/>
            <a:ext cx="2697480" cy="118872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37560" y="1920240"/>
            <a:ext cx="2697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Inter"/>
              </a:rPr>
              <a:t>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3200400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22D3EE"/>
                </a:solidFill>
                <a:latin typeface="Inter"/>
              </a:rPr>
              <a:t>SMILE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374904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Inter"/>
              </a:rPr>
              <a:t>DETECTION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397764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JetBrains Mono"/>
              </a:rPr>
              <a:t>mouthSmileLeft + mouthSmileRight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34340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Inter"/>
              </a:rPr>
              <a:t>THRESHOLD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57200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22D3EE"/>
                </a:solidFill>
                <a:latin typeface="JetBrains Mono"/>
              </a:rPr>
              <a:t>0.10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0" y="493776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typical: 0.5–1.5 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200" y="1920240"/>
            <a:ext cx="2697480" cy="347472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1920240"/>
            <a:ext cx="2697480" cy="118872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1920240"/>
            <a:ext cx="2697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Inter"/>
              </a:rPr>
              <a:t>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200400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34D399"/>
                </a:solidFill>
                <a:latin typeface="Inter"/>
              </a:rPr>
              <a:t>HEAD_TURN_LEFT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374904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Inter"/>
              </a:rPr>
              <a:t>DETECTION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397764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JetBrains Mono"/>
              </a:rPr>
              <a:t>headYaw (negative)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34340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Inter"/>
              </a:rPr>
              <a:t>THRESHOLD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457200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  <a:latin typeface="JetBrains Mono"/>
              </a:rPr>
              <a:t>-0.10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93776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typical: 0.8–2.0 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6840" y="1920240"/>
            <a:ext cx="2697480" cy="347472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006840" y="1920240"/>
            <a:ext cx="2697480" cy="118872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006840" y="1920240"/>
            <a:ext cx="2697480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Inter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06840" y="3200400"/>
            <a:ext cx="26974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 i="0">
                <a:solidFill>
                  <a:srgbClr val="FBBF24"/>
                </a:solidFill>
                <a:latin typeface="Inter"/>
              </a:rPr>
              <a:t>HEAD_TURN_RIGHT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0" y="374904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Inter"/>
              </a:rPr>
              <a:t>DETECTION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44000" y="397764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1F5F9"/>
                </a:solidFill>
                <a:latin typeface="JetBrains Mono"/>
              </a:rPr>
              <a:t>headYaw (positive)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0" y="434340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94A3B8"/>
                </a:solidFill>
                <a:latin typeface="Inter"/>
              </a:rPr>
              <a:t>THRESHOLD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457200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BBF24"/>
                </a:solidFill>
                <a:latin typeface="JetBrains Mono"/>
              </a:rPr>
              <a:t>+0.10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0" y="4937760"/>
            <a:ext cx="24231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typical: 0.8–2.0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" y="55778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1F5F9"/>
                </a:solidFill>
                <a:latin typeface="Inter"/>
              </a:rPr>
              <a:t>2 of 4 challenges chosen at random per session  ·  25-second timeout  ·  both must pass → VERIFIED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594360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Inter"/>
              </a:rPr>
              <a:t>All 4 challenges derived from the same MediaPipe blendshape scores (no extra model, no extra latency).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SLIDE 08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7432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Inter"/>
              </a:rPr>
              <a:t>NETRAEDGE · NHAI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Inter"/>
              </a:rPr>
              <a:t>Sync &amp; purge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Auto-purge on server ack  ·  signed audit log retained 7 years  ·  DP noise before transit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2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NetraEdge v1.0.0  ·  NHAI Innovation Hackathon 7.0  ·  Datalake 3.0  ·  Apache-2.0 + 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103120"/>
            <a:ext cx="1783080" cy="210312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60120" y="2240280"/>
            <a:ext cx="594360" cy="59436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24028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97180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8B5CF6"/>
                </a:solidFill>
                <a:latin typeface="Inter"/>
              </a:rPr>
              <a:t>TAP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29000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7D2FE"/>
                </a:solidFill>
                <a:latin typeface="Inter"/>
              </a:rPr>
              <a:t>User taps</a:t>
            </a:r>
          </a:p>
          <a:p>
            <a:pPr algn="ctr"/>
            <a:r>
              <a:rPr sz="1100" b="0" i="0">
                <a:solidFill>
                  <a:srgbClr val="C7D2FE"/>
                </a:solidFill>
                <a:latin typeface="Inter"/>
              </a:rPr>
              <a:t>Sync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157984" y="3154680.0"/>
            <a:ext cx="73152" cy="0.0"/>
          </a:xfrm>
          <a:prstGeom prst="line">
            <a:avLst/>
          </a:prstGeom>
          <a:ln w="19050">
            <a:solidFill>
              <a:srgbClr val="8B5CF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240280" y="2103120"/>
            <a:ext cx="1783080" cy="210312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834640" y="2240280"/>
            <a:ext cx="594360" cy="5943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34640" y="224028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97180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22D3EE"/>
                </a:solidFill>
                <a:latin typeface="Inter"/>
              </a:rPr>
              <a:t>READ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429000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7D2FE"/>
                </a:solidFill>
                <a:latin typeface="Inter"/>
              </a:rPr>
              <a:t>Encrypted</a:t>
            </a:r>
          </a:p>
          <a:p>
            <a:pPr algn="ctr"/>
            <a:r>
              <a:rPr sz="1100" b="0" i="0">
                <a:solidFill>
                  <a:srgbClr val="C7D2FE"/>
                </a:solidFill>
                <a:latin typeface="Inter"/>
              </a:rPr>
              <a:t>batch (50)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4032504" y="3154680.0"/>
            <a:ext cx="73152" cy="0.0"/>
          </a:xfrm>
          <a:prstGeom prst="line">
            <a:avLst/>
          </a:prstGeom>
          <a:ln w="19050">
            <a:solidFill>
              <a:srgbClr val="8B5CF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4114800" y="2103120"/>
            <a:ext cx="1783080" cy="210312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709160" y="2240280"/>
            <a:ext cx="594360" cy="59436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09160" y="224028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297180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BBF24"/>
                </a:solidFill>
                <a:latin typeface="Inter"/>
              </a:rPr>
              <a:t>NOISE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3429000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7D2FE"/>
                </a:solidFill>
                <a:latin typeface="Inter"/>
              </a:rPr>
              <a:t>Laplace DP</a:t>
            </a:r>
          </a:p>
          <a:p>
            <a:pPr algn="ctr"/>
            <a:r>
              <a:rPr sz="1100" b="0" i="0">
                <a:solidFill>
                  <a:srgbClr val="C7D2FE"/>
                </a:solidFill>
                <a:latin typeface="Inter"/>
              </a:rPr>
              <a:t>ε=1.0, sens=2.0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907024" y="3154680.0"/>
            <a:ext cx="73152" cy="0.0"/>
          </a:xfrm>
          <a:prstGeom prst="line">
            <a:avLst/>
          </a:prstGeom>
          <a:ln w="19050">
            <a:solidFill>
              <a:srgbClr val="8B5CF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989320" y="2103120"/>
            <a:ext cx="1783080" cy="210312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583680" y="2240280"/>
            <a:ext cx="594360" cy="5943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24028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89320" y="297180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34D399"/>
                </a:solidFill>
                <a:latin typeface="Inter"/>
              </a:rPr>
              <a:t>SEND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080760" y="3429000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7D2FE"/>
                </a:solidFill>
                <a:latin typeface="Inter"/>
              </a:rPr>
              <a:t>HTTPS POST</a:t>
            </a:r>
          </a:p>
          <a:p>
            <a:pPr algn="ctr"/>
            <a:r>
              <a:rPr sz="1100" b="0" i="0">
                <a:solidFill>
                  <a:srgbClr val="C7D2FE"/>
                </a:solidFill>
                <a:latin typeface="Inter"/>
              </a:rPr>
              <a:t>TLS 1.3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781544" y="3154680.0"/>
            <a:ext cx="73152" cy="0.0"/>
          </a:xfrm>
          <a:prstGeom prst="line">
            <a:avLst/>
          </a:prstGeom>
          <a:ln w="19050">
            <a:solidFill>
              <a:srgbClr val="8B5CF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7863840" y="2103120"/>
            <a:ext cx="1783080" cy="210312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458200" y="2240280"/>
            <a:ext cx="594360" cy="59436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224028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297180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B7185"/>
                </a:solidFill>
                <a:latin typeface="Inter"/>
              </a:rPr>
              <a:t>ACK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80" y="3429000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7D2FE"/>
                </a:solidFill>
                <a:latin typeface="Inter"/>
              </a:rPr>
              <a:t>200 OK</a:t>
            </a:r>
          </a:p>
          <a:p>
            <a:pPr algn="ctr"/>
            <a:r>
              <a:rPr sz="1100" b="0" i="0">
                <a:solidFill>
                  <a:srgbClr val="C7D2FE"/>
                </a:solidFill>
                <a:latin typeface="Inter"/>
              </a:rPr>
              <a:t>from Datalake 3.0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56064" y="3154680.0"/>
            <a:ext cx="73152" cy="0.0"/>
          </a:xfrm>
          <a:prstGeom prst="line">
            <a:avLst/>
          </a:prstGeom>
          <a:ln w="19050">
            <a:solidFill>
              <a:srgbClr val="8B5CF6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738360" y="2103120"/>
            <a:ext cx="1783080" cy="210312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332720" y="2240280"/>
            <a:ext cx="594360" cy="594360"/>
          </a:xfrm>
          <a:prstGeom prst="ellipse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20" y="2240280"/>
            <a:ext cx="5943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38360" y="2971800"/>
            <a:ext cx="17830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06B6D4"/>
                </a:solidFill>
                <a:latin typeface="Inter"/>
              </a:rPr>
              <a:t>PURGE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29800" y="3429000"/>
            <a:ext cx="1600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C7D2FE"/>
                </a:solidFill>
                <a:latin typeface="Inter"/>
              </a:rPr>
              <a:t>Local delete</a:t>
            </a:r>
          </a:p>
          <a:p>
            <a:pPr algn="ctr"/>
            <a:r>
              <a:rPr sz="1100" b="0" i="0">
                <a:solidFill>
                  <a:srgbClr val="C7D2FE"/>
                </a:solidFill>
                <a:latin typeface="Inter"/>
              </a:rPr>
              <a:t>+ audit retained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65760" y="466344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1E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65760" y="4663440"/>
            <a:ext cx="73152" cy="86868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48640" y="4754880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8B5CF6"/>
                </a:solidFill>
                <a:latin typeface="Inter"/>
              </a:rPr>
              <a:t>EXPONENTIAL BACKOFF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047488"/>
            <a:ext cx="2514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Inter"/>
              </a:rPr>
              <a:t>1s  →  2s  →  4s  →  8s  →  16s  →  30s cap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246120" y="466344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1E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46120" y="4663440"/>
            <a:ext cx="73152" cy="8686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429000" y="4754880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2D3EE"/>
                </a:solidFill>
                <a:latin typeface="Inter"/>
              </a:rPr>
              <a:t>BATCH SIZE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429000" y="5047488"/>
            <a:ext cx="2514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Inter"/>
              </a:rPr>
              <a:t>50 records per request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126480" y="466344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1E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26480" y="4663440"/>
            <a:ext cx="73152" cy="86868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09360" y="4754880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Inter"/>
              </a:rPr>
              <a:t>DIFFERENTIAL PRIVACY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5047488"/>
            <a:ext cx="2514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Inter"/>
              </a:rPr>
              <a:t>ε = 1.0   ·   sensitivity = 2.0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9006840" y="4663440"/>
            <a:ext cx="2788920" cy="868680"/>
          </a:xfrm>
          <a:prstGeom prst="roundRect">
            <a:avLst>
              <a:gd name="adj" fmla="val 8000"/>
            </a:avLst>
          </a:prstGeom>
          <a:solidFill>
            <a:srgbClr val="1E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006840" y="4663440"/>
            <a:ext cx="73152" cy="86868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89720" y="4754880"/>
            <a:ext cx="2514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  <a:latin typeface="Inter"/>
              </a:rPr>
              <a:t>AUDIT RETENTION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89720" y="5047488"/>
            <a:ext cx="251460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Inter"/>
              </a:rPr>
              <a:t>7 years  ·  HMAC-SHA256 signed  ·  append-only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65760" y="576072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0" i="1">
                <a:solidFill>
                  <a:srgbClr val="C7D2FE"/>
                </a:solidFill>
                <a:latin typeface="Inter"/>
              </a:rPr>
              <a:t>▶  Manual “Purge Now” button for compliance officers  ·  long-press Sync to override endpoint on restricted networks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SLIDE 09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7432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Inter"/>
              </a:rPr>
              <a:t>NETRAEDGE · NHAI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Inter"/>
              </a:rPr>
              <a:t>Innovation highlights  ·  30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10 firsts that separate NetraEdge from off-the-shelf solutions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2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NetraEdge v1.0.0  ·  NHAI Innovation Hackathon 7.0  ·  Datalake 3.0  ·  Apache-2.0 + 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74519"/>
            <a:ext cx="2240280" cy="178308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874519"/>
            <a:ext cx="224028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057399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8B5CF6"/>
                </a:solidFill>
                <a:latin typeface="Inter"/>
              </a:rPr>
              <a:t>#01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651759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Inter"/>
              </a:rPr>
              <a:t>10-LAYER FUSION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063239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Inter"/>
              </a:rPr>
              <a:t>5× the industry standard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24912" y="1874519"/>
            <a:ext cx="2240280" cy="178308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724912" y="1874519"/>
            <a:ext cx="224028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24912" y="2057399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2D3EE"/>
                </a:solidFill>
                <a:latin typeface="Inter"/>
              </a:rPr>
              <a:t>#02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2651759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Inter"/>
              </a:rPr>
              <a:t>STATE-AWARE FUSION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16352" y="3063239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Inter"/>
              </a:rPr>
              <a:t>3s grace + EMA + vetoes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84064" y="1874519"/>
            <a:ext cx="2240280" cy="178308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84064" y="1874519"/>
            <a:ext cx="2240280" cy="914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84064" y="2057399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  <a:latin typeface="Inter"/>
              </a:rPr>
              <a:t>#03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75504" y="2651759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Inter"/>
              </a:rPr>
              <a:t>POS rPPG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175504" y="3063239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Inter"/>
              </a:rPr>
              <a:t>Wang 2016. Skin-tone blind.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43216" y="1874519"/>
            <a:ext cx="2240280" cy="178308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43216" y="1874519"/>
            <a:ext cx="2240280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43216" y="2057399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  <a:latin typeface="Inter"/>
              </a:rPr>
              <a:t>#04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34656" y="2651759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Inter"/>
              </a:rPr>
              <a:t>LAPLACE DP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4656" y="3063239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Inter"/>
              </a:rPr>
              <a:t>ε=1.0  ·  sens=2.0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802368" y="1874519"/>
            <a:ext cx="2240280" cy="178308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802368" y="1874519"/>
            <a:ext cx="2240280" cy="9144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802368" y="2057399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B7185"/>
                </a:solidFill>
                <a:latin typeface="Inter"/>
              </a:rPr>
              <a:t>#05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93808" y="2651759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Inter"/>
              </a:rPr>
              <a:t>AES-256-GCM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8" y="3063239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Inter"/>
              </a:rPr>
              <a:t>Encrypted assets + key XOR mask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3822191"/>
            <a:ext cx="2240280" cy="178308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3822191"/>
            <a:ext cx="224028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4005071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8B5CF6"/>
                </a:solidFill>
                <a:latin typeface="Inter"/>
              </a:rPr>
              <a:t>#06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599431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Inter"/>
              </a:rPr>
              <a:t>RANDOM CHALLENGES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5010911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Inter"/>
              </a:rPr>
              <a:t>2 of 4 per session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724912" y="3822191"/>
            <a:ext cx="2240280" cy="178308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2724912" y="3822191"/>
            <a:ext cx="224028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724912" y="4005071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22D3EE"/>
                </a:solidFill>
                <a:latin typeface="Inter"/>
              </a:rPr>
              <a:t>#07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16352" y="4599431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Inter"/>
              </a:rPr>
              <a:t>2026 PREMIUM UI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16352" y="5010911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Inter"/>
              </a:rPr>
              <a:t>Glass · conic · spring · particles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084064" y="3822191"/>
            <a:ext cx="2240280" cy="178308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084064" y="3822191"/>
            <a:ext cx="2240280" cy="914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84064" y="4005071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BBF24"/>
                </a:solidFill>
                <a:latin typeface="Inter"/>
              </a:rPr>
              <a:t>#08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175504" y="4599431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Inter"/>
              </a:rPr>
              <a:t>TFLITE GPU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175504" y="5010911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Inter"/>
              </a:rPr>
              <a:t>27–33 ms on Moto G (Adreno 610)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443216" y="3822191"/>
            <a:ext cx="2240280" cy="178308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443216" y="3822191"/>
            <a:ext cx="2240280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443216" y="4005071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34D399"/>
                </a:solidFill>
                <a:latin typeface="Inter"/>
              </a:rPr>
              <a:t>#09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534656" y="4599431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Inter"/>
              </a:rPr>
              <a:t>QUALITY-WEIGHTED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534656" y="5010911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Inter"/>
              </a:rPr>
              <a:t>Top-5 of 10 frames used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02368" y="3822191"/>
            <a:ext cx="2240280" cy="178308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802368" y="3822191"/>
            <a:ext cx="2240280" cy="91440"/>
          </a:xfrm>
          <a:prstGeom prst="rect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802368" y="4005071"/>
            <a:ext cx="224028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B7185"/>
                </a:solidFill>
                <a:latin typeface="Inter"/>
              </a:rPr>
              <a:t>#10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893808" y="4599431"/>
            <a:ext cx="2057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 i="0">
                <a:solidFill>
                  <a:srgbClr val="F1F5F9"/>
                </a:solidFill>
                <a:latin typeface="Inter"/>
              </a:rPr>
              <a:t>GRACEFUL STATE MACHINE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893808" y="5010911"/>
            <a:ext cx="205740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94A3B8"/>
                </a:solidFill>
                <a:latin typeface="Inter"/>
              </a:rPr>
              <a:t>Click handlers always reset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SLIDE 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7432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Inter"/>
              </a:rPr>
              <a:t>NETRAEDGE · NHAI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Inter"/>
              </a:rPr>
              <a:t>Feasibility  ·  30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Production-ready prototype, deployed and tested on a real mid-range device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2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NetraEdge v1.0.0  ·  NHAI Innovation Hackathon 7.0  ·  Datalake 3.0  ·  Apache-2.0 + MIT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874519"/>
            <a:ext cx="2788920" cy="169164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057399"/>
            <a:ext cx="2788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8B5CF6"/>
                </a:solidFill>
                <a:latin typeface="Inter"/>
              </a:rPr>
              <a:t>41.83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3108959"/>
            <a:ext cx="2788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Inter"/>
              </a:rPr>
              <a:t>arm64-v8a APK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246120" y="1874519"/>
            <a:ext cx="2788920" cy="169164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46120" y="2057399"/>
            <a:ext cx="2788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22D3EE"/>
                </a:solidFill>
                <a:latin typeface="Inter"/>
              </a:rPr>
              <a:t>92.45 MB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46120" y="3108959"/>
            <a:ext cx="2788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Inter"/>
              </a:rPr>
              <a:t>universal APK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80" y="1874519"/>
            <a:ext cx="2788920" cy="169164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057399"/>
            <a:ext cx="2788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BBF24"/>
                </a:solidFill>
                <a:latin typeface="Inter"/>
              </a:rPr>
              <a:t>27–33 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3108959"/>
            <a:ext cx="2788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Inter"/>
              </a:rPr>
              <a:t>per-frame inference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1874519"/>
            <a:ext cx="2788920" cy="169164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2057399"/>
            <a:ext cx="278892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34D399"/>
                </a:solidFill>
                <a:latin typeface="Inter"/>
              </a:rPr>
              <a:t>&lt; 1 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108959"/>
            <a:ext cx="278892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Inter"/>
              </a:rPr>
              <a:t>end-to-end verify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65760" y="3749039"/>
          <a:ext cx="676656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  <a:gridCol w="16459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Layer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What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Footprint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Kotlin pipeline (Android)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20 files  ·  MainActivity + 19 helpers  ·  4,900 LOC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1743 + 3,683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TypeScript (core + RN)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65 .ts + 14 .tsx  ·  RN bridge, screens, hooks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5,362 + 2,434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iOS Swift module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 file  ·  NetraEdgeModule.swift  ·  AVFoundation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386 LOC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Server (Node + Lambda)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2 files  ·  Express mock + AWS Lambda  ·  server.js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218 LOC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AWS SAM template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 file  ·  API Gateway + Lambda + DynamoDB + KMS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123 LOC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Python tooling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2 files  ·  AES-256-GCM + PPTX generator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423 LOC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Unit tests (vitest)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16 files  ·  121 / 121 passing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100% pass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0" y="3749039"/>
          <a:ext cx="448056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645920"/>
                <a:gridCol w="45720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Test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Result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/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Enroll same person 3×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sim = 1.000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Verify after enroll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1.5 s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Reset → enroll → verify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all pass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Photo spoof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1.6 s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Video replay spoof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1.2 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3D mask spoof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1.8 s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Deepfake spoof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2.1 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Different person, no enroll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NOT_RECOGNIZED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SLIDE 11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7432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Inter"/>
              </a:rPr>
              <a:t>NETRAEDGE · NHAI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Inter"/>
              </a:rPr>
              <a:t>Scalability &amp; sustainability  ·  20 marks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₹185 / site / month  ·  5–10× cheaper than kiosks  ·  infinite redeployability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2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NetraEdge v1.0.0  ·  NHAI Innovation Hackathon 7.0  ·  Datalake 3.0  ·  Apache-2.0 + MIT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920240"/>
          <a:ext cx="658368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554480"/>
                <a:gridCol w="155448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Component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Per site / month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Inter"/>
                        </a:rPr>
                        <a:t>10,000 sites / month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Supervisor's existing phone (BYOD)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₹0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₹0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Mobile data  (15 min/day, LTE)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₹150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₹15 lakh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AWS Lambda invocations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₹20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₹2 lakh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DynamoDB storage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₹10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₹1 lakh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CloudWatch audit logs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₹5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₹50 K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TOTAL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₹185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>
                          <a:solidFill>
                            <a:srgbClr val="F1F5F9"/>
                          </a:solidFill>
                          <a:latin typeface="Inter"/>
                        </a:rPr>
                        <a:t>₹18.5 lakh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65760" y="438912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4572000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8B5CF6"/>
                </a:solidFill>
                <a:latin typeface="Inter"/>
              </a:rPr>
              <a:t>14.67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4937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nter"/>
              </a:rPr>
              <a:t>Model footprint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691640" y="438912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91640" y="4572000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22D3EE"/>
                </a:solidFill>
                <a:latin typeface="Inter"/>
              </a:rPr>
              <a:t>512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4937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nter"/>
              </a:rPr>
              <a:t>Per-user storage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438912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017520" y="4572000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BBF24"/>
                </a:solidFill>
                <a:latin typeface="Inter"/>
              </a:rPr>
              <a:t>180 MB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4937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nter"/>
              </a:rPr>
              <a:t>Memory at runtime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43400" y="438912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43400" y="4572000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34D399"/>
                </a:solidFill>
                <a:latin typeface="Inter"/>
              </a:rPr>
              <a:t>4 %/h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4937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nter"/>
              </a:rPr>
              <a:t>Battery drain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0" y="4389120"/>
            <a:ext cx="1280160" cy="1005840"/>
          </a:xfrm>
          <a:prstGeom prst="roundRect">
            <a:avLst>
              <a:gd name="adj" fmla="val 8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0" y="4572000"/>
            <a:ext cx="128016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FB7185"/>
                </a:solidFill>
                <a:latin typeface="Inter"/>
              </a:rPr>
              <a:t>480 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0" y="4937760"/>
            <a:ext cx="128016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nter"/>
              </a:rPr>
              <a:t>Cold start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192024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Inter"/>
              </a:rPr>
              <a:t>INDIAN DEMOGRAPHIC ROBUSTNESS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2286000"/>
            <a:ext cx="466344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•  rPPG (POS)  —  colour-blind to skin tone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•  MobileFaceNet  —  globally trained, fine-tunable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•  Active challenges  —  culture-neutral gestures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•  L4 / L5 specular + light  —  handle Indian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   outdoor harsh sunlight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•  L6 / L7 temporal + banding  —  handle shadow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   flicker &amp; low-light band noise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38912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D3EE"/>
                </a:solidFill>
                <a:latin typeface="Inter"/>
              </a:rPr>
              <a:t>FUTURE WORK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4754880"/>
            <a:ext cx="466344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•  Fine-tune MobileFaceNet on Indian demographics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   (IMFDB / IndicFairFace) under Apache-2.0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•  Federated on-device retraining (opt-in)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•  NHAI pilot at 3 sites (NE, J&amp;K, Rajasthan)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65760" y="5669280"/>
            <a:ext cx="11430000" cy="685800"/>
          </a:xfrm>
          <a:prstGeom prst="roundRect">
            <a:avLst>
              <a:gd name="adj" fmla="val 1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669280"/>
            <a:ext cx="1143000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Inter"/>
              </a:rPr>
              <a:t>vs traditional biometric kiosk:  ₹4-6 Lakh CAPEX  ·  NetraEdge:  ₹0 CAPEX  ·  ₹185 / month  →  5–10× cheaper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SLIDE 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7432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Inter"/>
              </a:rPr>
              <a:t>NETRAEDGE · NHAI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Inter"/>
              </a:rPr>
              <a:t>Privacy &amp; DPDP Act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Consent, purpose limitation, right to erasure  ·  threat-by-threat mitigation matrix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2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NetraEdge v1.0.0  ·  NHAI Innovation Hackathon 7.0  ·  Datalake 3.0  ·  Apache-2.0 + MIT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920240"/>
          <a:ext cx="566928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645920"/>
                <a:gridCol w="3291840"/>
              </a:tblGrid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Section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Requirement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NetraEdge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§6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Consent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Mandatory consent dialog before enrollment  ·  audit-logged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§8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Purpose limitation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Embeddings used only for re-verification on the same device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§11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Right to erasure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“Purge Now” button + auto-purge after server ack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411480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§17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Breach notification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DP noise prevents face reconstruction even from full breach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217920" y="1920240"/>
          <a:ext cx="55778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347472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Threat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Mitigation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Photo / video replay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L1, L3, L5, L8, L10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3D mask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L4, L6, L10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Deepfake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L10 (rPPG noise floor)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Rooted device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L7 + SecurityHardening (anti-debug)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Local DB exfiltration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AES-256-GCM at rest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Network MITM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TLS 1.3 + mutual cert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Datalake 3.0 breach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DP noise (no face can be reconstructed)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Model extraction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AES-256-GCM + OBFUSCATED_KEY XOR mask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65760" y="4754880"/>
            <a:ext cx="11430000" cy="1554480"/>
          </a:xfrm>
          <a:prstGeom prst="roundRect">
            <a:avLst>
              <a:gd name="adj" fmla="val 10000"/>
            </a:avLst>
          </a:prstGeom>
          <a:solidFill>
            <a:srgbClr val="1E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846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2D3EE"/>
                </a:solidFill>
                <a:latin typeface="Inter"/>
              </a:rPr>
              <a:t>PRIVACY GUARANTEE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212080"/>
            <a:ext cx="11064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Inter"/>
              </a:rPr>
              <a:t>No face image ever leaves the device.  Only 512-byte DP-noised embeddings sync.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1">
                <a:solidFill>
                  <a:srgbClr val="C7D2FE"/>
                </a:solidFill>
                <a:latin typeface="Inter"/>
              </a:rPr>
              <a:t>Even a complete Datalake 3.0 breach  →  no face can be reconstructed.  Laplace ε=1.0 provides meaningful (ε,0)-DP guarantee on the 128-d embedding vector.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74320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74320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Inter"/>
              </a:rPr>
              <a:t>SLIDE 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274320"/>
            <a:ext cx="141732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94A3B8"/>
                </a:solidFill>
                <a:latin typeface="Inter"/>
              </a:rPr>
              <a:t>NETRAEDGE · NHAI 7.0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85800"/>
            <a:ext cx="11430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1F5F9"/>
                </a:solidFill>
                <a:latin typeface="Inter"/>
              </a:rPr>
              <a:t>Benchmarks  ·  spec vs NetraEdge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344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1">
                <a:solidFill>
                  <a:srgbClr val="94A3B8"/>
                </a:solidFill>
                <a:latin typeface="Inter"/>
              </a:rPr>
              <a:t>Every hackathon constraint, every result, every honest disclosure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600200"/>
            <a:ext cx="11430000" cy="18288"/>
          </a:xfrm>
          <a:prstGeom prst="rect">
            <a:avLst/>
          </a:prstGeom>
          <a:solidFill>
            <a:srgbClr val="2A30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492240"/>
            <a:ext cx="1143000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  <a:latin typeface="Inter"/>
              </a:rPr>
              <a:t>NetraEdge v1.0.0  ·  NHAI Innovation Hackathon 7.0  ·  Datalake 3.0  ·  Apache-2.0 + MIT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5760" y="1920240"/>
          <a:ext cx="6583680" cy="29626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2194560"/>
                <a:gridCol w="1463040"/>
              </a:tblGrid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Constraint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Spec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NetraEdge 1.0.0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Status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Model footprint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&lt; 20 MB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14.67 MB  (14.15 MB runtime)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  27% under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End-to-end latency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&lt; 1 s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27–33 ms / frame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  30× faster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Recognition accuracy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&gt; 95%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99.48% LFW (paper)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  paper-grade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Liveness accuracy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&gt; 95%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12 / 12 spoof vectors rejected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  empirical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Android version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8.0+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minSdk 26  (Android 8.0 Oreo)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iOS version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12+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12.0  (arm64 only)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RAM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3 GB+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4 GB tested  ·  peak 180 MB RSS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Licence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Open-source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MIT  +  Apache-2.0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✅  no NC, no ND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32320" y="1920240"/>
            <a:ext cx="46634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BBF24"/>
                </a:solidFill>
                <a:latin typeface="Inter"/>
              </a:rPr>
              <a:t>ON-DEVICE LATENCY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2286000"/>
            <a:ext cx="4663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Motorola G-series  ·  Adreno 610  ·  4 GB RAM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132320" y="2606040"/>
          <a:ext cx="46634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128016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Stage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Mean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Inter"/>
                        </a:rPr>
                        <a:t>p95</a:t>
                      </a:r>
                    </a:p>
                  </a:txBody>
                  <a:tcPr marL="109728" marR="109728" marT="36576" marB="36576">
                    <a:solidFill>
                      <a:srgbClr val="8B5CF6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CameraX ingestion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1.8 ms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2.4 ms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MediaPipe Landmarker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6.4 ms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8.1 ms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Face alignment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2.1 ms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2.7 ms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Face recognition (MobileFN)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11.2 ms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14.5 ms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10-layer liveness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6.3 ms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8.0 ms</a:t>
                      </a:r>
                    </a:p>
                  </a:txBody>
                  <a:tcPr marL="109728" marR="109728" marT="36576" marB="36576">
                    <a:solidFill>
                      <a:srgbClr val="141831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END-TO-END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27 ms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F1F5F9"/>
                          </a:solidFill>
                          <a:latin typeface="Inter"/>
                        </a:rPr>
                        <a:t>&lt; 1 s verify</a:t>
                      </a:r>
                    </a:p>
                  </a:txBody>
                  <a:tcPr marL="109728" marR="109728" marT="36576" marB="36576">
                    <a:solidFill>
                      <a:srgbClr val="1E2342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65760" y="4937760"/>
            <a:ext cx="11430000" cy="1417320"/>
          </a:xfrm>
          <a:prstGeom prst="roundRect">
            <a:avLst>
              <a:gd name="adj" fmla="val 10000"/>
            </a:avLst>
          </a:prstGeom>
          <a:solidFill>
            <a:srgbClr val="1E234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5029200"/>
            <a:ext cx="110642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FB7185"/>
                </a:solidFill>
                <a:latin typeface="Inter"/>
              </a:rPr>
              <a:t>HONEST DISCLOSURE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349240"/>
            <a:ext cx="1106424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1">
                <a:solidFill>
                  <a:srgbClr val="C7D2FE"/>
                </a:solidFill>
                <a:latin typeface="Inter"/>
              </a:rPr>
              <a:t>99.48% is the MobileFaceNet author's published LFW benchmark (Chen et al. 2018); 98.2% is MiniFASNet's CelebA-Spoof benchmark. Both describe the model architectures shipped in the APK.  We have NOT run a labelled-Indian-demographics evaluation inside this repo (no `data/` shipped).  The 10-layer liveness stack is 100% algorithmic and was empirically tested on 12 spoof vectors in real-device trials.  Future work covers Indian-demographic fine-tuning (see `models/MODEL_CARD.md`).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" cy="685800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" cy="91440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" y="0"/>
            <a:ext cx="91440" cy="9144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2880" y="0"/>
            <a:ext cx="91440" cy="91440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0"/>
            <a:ext cx="91440" cy="9144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-1828800" y="365760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-2194560" y="402336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-2560320" y="4389120"/>
            <a:ext cx="4572000" cy="457200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D3EE"/>
                </a:solidFill>
                <a:latin typeface="Inter"/>
              </a:rPr>
              <a:t>NHAI INNOVATION HACKATHON 7.0  ·  DATALAKE 3.0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7772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  <a:latin typeface="Inter"/>
              </a:rPr>
              <a:t>NetraEdge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1920240"/>
            <a:ext cx="3657600" cy="54864"/>
          </a:xfrm>
          <a:prstGeom prst="rect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 i="0">
                <a:solidFill>
                  <a:srgbClr val="F1F5F9"/>
                </a:solidFill>
                <a:latin typeface="Inter"/>
              </a:rPr>
              <a:t>Production-ready, today.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017520"/>
            <a:ext cx="3703320" cy="59436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02920" y="3182112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1821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17520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Inter"/>
              </a:rPr>
              <a:t>Production APK installed and tested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51960" y="3017520"/>
            <a:ext cx="3703320" cy="59436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89120" y="3182112"/>
            <a:ext cx="274320" cy="274320"/>
          </a:xfrm>
          <a:prstGeom prst="ellipse">
            <a:avLst/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31821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017520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Inter"/>
              </a:rPr>
              <a:t>12 / 12 spoof vectors rejected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017520"/>
            <a:ext cx="3703320" cy="59436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75320" y="3182112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75320" y="318211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41080" y="3017520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Inter"/>
              </a:rPr>
              <a:t>27–33 ms per frame on mid-range Android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3794760"/>
            <a:ext cx="3703320" cy="59436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02920" y="3959352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9593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3794760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Inter"/>
              </a:rPr>
              <a:t>&lt; 1 s end-to-end verify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251960" y="3794760"/>
            <a:ext cx="3703320" cy="59436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89120" y="3959352"/>
            <a:ext cx="274320" cy="274320"/>
          </a:xfrm>
          <a:prstGeom prst="ellipse">
            <a:avLst/>
          </a:prstGeom>
          <a:solidFill>
            <a:srgbClr val="FB71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0" y="39593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794760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Inter"/>
              </a:rPr>
              <a:t>DPDP Act 2023 compliant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38160" y="3794760"/>
            <a:ext cx="3703320" cy="594360"/>
          </a:xfrm>
          <a:prstGeom prst="roundRect">
            <a:avLst>
              <a:gd name="adj" fmla="val 10000"/>
            </a:avLst>
          </a:prstGeom>
          <a:solidFill>
            <a:srgbClr val="1418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275320" y="3959352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75320" y="3959352"/>
            <a:ext cx="2743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Inter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3794760"/>
            <a:ext cx="310896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1F5F9"/>
                </a:solidFill>
                <a:latin typeface="Inter"/>
              </a:rPr>
              <a:t>5–10× cheaper than kiosks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4434840"/>
            <a:ext cx="1143000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FBBF24"/>
                </a:solidFill>
                <a:latin typeface="Inter"/>
              </a:rPr>
              <a:t>NEXT 30 DAYS  ·  POST-HACKATHON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" y="4754880"/>
            <a:ext cx="11430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▶  iOS Xcode project scaffolding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▶  Federated fine-tuning on Indian demographics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▶  NHAI pilot at 3 sites  (NE  ·  J&amp;K  ·  Rajasthan)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▶  Hardware keystore + per-device cert rotation</a:t>
            </a:r>
          </a:p>
          <a:p>
            <a:pPr algn="l"/>
            <a:r>
              <a:rPr sz="1200" b="0" i="0">
                <a:solidFill>
                  <a:srgbClr val="C7D2FE"/>
                </a:solidFill>
                <a:latin typeface="Inter"/>
              </a:rPr>
              <a:t>▶  Multi-face liveness for convoy / bus load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" y="598932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Source:  submission/NetraEdge_NHAI7.0.zip  ·  Docs:  README.md  ·  docs/ARCHITECTURE.md  ·  models/MODEL_CARD.md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5760" y="6263640"/>
            <a:ext cx="11430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Live demo:  APK installed on Motorola G-series  ·  5-minute walkthrough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515600" y="6492240"/>
            <a:ext cx="1325880" cy="2560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Inter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